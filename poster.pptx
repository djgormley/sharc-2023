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handoutMasterIdLst>
    <p:handoutMasterId r:id="rId4"/>
  </p:handoutMasterIdLst>
  <p:sldIdLst>
    <p:sldId id="256" r:id="rId2"/>
  </p:sldIdLst>
  <p:sldSz cx="43891200" cy="329184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021" autoAdjust="0"/>
    <p:restoredTop sz="48469" autoAdjust="0"/>
  </p:normalViewPr>
  <p:slideViewPr>
    <p:cSldViewPr snapToGrid="0">
      <p:cViewPr varScale="1">
        <p:scale>
          <a:sx n="18" d="100"/>
          <a:sy n="18" d="100"/>
        </p:scale>
        <p:origin x="2011" y="7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65" d="100"/>
          <a:sy n="65" d="100"/>
        </p:scale>
        <p:origin x="2796"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C0B079-A316-4C9B-B165-DF9EA8325D2C}" type="datetimeFigureOut">
              <a:rPr lang="en-US" smtClean="0"/>
              <a:t>1/23/2023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A0EAE6-B4B6-49B7-9049-B371250BE0F4}" type="slidenum">
              <a:rPr lang="en-US" smtClean="0"/>
              <a:t>‹#›</a:t>
            </a:fld>
            <a:endParaRPr lang="en-US"/>
          </a:p>
        </p:txBody>
      </p:sp>
    </p:spTree>
    <p:extLst>
      <p:ext uri="{BB962C8B-B14F-4D97-AF65-F5344CB8AC3E}">
        <p14:creationId xmlns:p14="http://schemas.microsoft.com/office/powerpoint/2010/main" val="14724663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F28AB8-57D1-494F-9851-055AD867E790}" type="datetimeFigureOut">
              <a:rPr lang="en-US" smtClean="0"/>
              <a:t>1/23/2023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7F044-5458-4B2E-BFA0-52AAA1C529D4}" type="slidenum">
              <a:rPr lang="en-US" smtClean="0"/>
              <a:t>‹#›</a:t>
            </a:fld>
            <a:endParaRPr lang="en-US"/>
          </a:p>
        </p:txBody>
      </p:sp>
    </p:spTree>
    <p:extLst>
      <p:ext uri="{BB962C8B-B14F-4D97-AF65-F5344CB8AC3E}">
        <p14:creationId xmlns:p14="http://schemas.microsoft.com/office/powerpoint/2010/main" val="1624808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change </a:t>
            </a:r>
            <a:r>
              <a:rPr lang="en-US"/>
              <a:t>this poster, </a:t>
            </a:r>
            <a:r>
              <a:rPr lang="en-US" dirty="0"/>
              <a:t>replace our sample content with your own. Or, if you'd rather start from a clean slate, press the New Slide button on the Home tab to insert a new page. Now enter your text and pictures in the empty placeholders. If you need more placeholders for titles, subtitles or body text, copy any of the existing placeholders, then drag the new one into place.</a:t>
            </a:r>
          </a:p>
        </p:txBody>
      </p:sp>
      <p:sp>
        <p:nvSpPr>
          <p:cNvPr id="4" name="Slide Number Placeholder 3"/>
          <p:cNvSpPr>
            <a:spLocks noGrp="1"/>
          </p:cNvSpPr>
          <p:nvPr>
            <p:ph type="sldNum" sz="quarter" idx="10"/>
          </p:nvPr>
        </p:nvSpPr>
        <p:spPr/>
        <p:txBody>
          <a:bodyPr/>
          <a:lstStyle/>
          <a:p>
            <a:fld id="{37C7F044-5458-4B2E-BFA0-52AAA1C529D4}" type="slidenum">
              <a:rPr lang="en-US" smtClean="0"/>
              <a:t>1</a:t>
            </a:fld>
            <a:endParaRPr lang="en-US"/>
          </a:p>
        </p:txBody>
      </p:sp>
    </p:spTree>
    <p:extLst>
      <p:ext uri="{BB962C8B-B14F-4D97-AF65-F5344CB8AC3E}">
        <p14:creationId xmlns:p14="http://schemas.microsoft.com/office/powerpoint/2010/main" val="3872615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ster">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1" name="Text Placeholder 6"/>
          <p:cNvSpPr>
            <a:spLocks noGrp="1"/>
          </p:cNvSpPr>
          <p:nvPr>
            <p:ph type="body" sz="quarter" idx="36"/>
          </p:nvPr>
        </p:nvSpPr>
        <p:spPr bwMode="auto">
          <a:xfrm>
            <a:off x="1158240" y="4093905"/>
            <a:ext cx="30174412" cy="646331"/>
          </a:xfrm>
        </p:spPr>
        <p:txBody>
          <a:bodyPr anchor="ctr">
            <a:noAutofit/>
          </a:bodyPr>
          <a:lstStyle>
            <a:lvl1pPr marL="0" indent="0">
              <a:spcBef>
                <a:spcPts val="0"/>
              </a:spcBef>
              <a:buNone/>
              <a:defRPr sz="3600">
                <a:solidFill>
                  <a:schemeClr val="bg1">
                    <a:lumMod val="75000"/>
                  </a:schemeClr>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a:t>Click to edit Master text styles</a:t>
            </a:r>
          </a:p>
        </p:txBody>
      </p:sp>
      <p:sp>
        <p:nvSpPr>
          <p:cNvPr id="7" name="Text Placeholder 6"/>
          <p:cNvSpPr>
            <a:spLocks noGrp="1"/>
          </p:cNvSpPr>
          <p:nvPr>
            <p:ph type="body" sz="quarter" idx="13" hasCustomPrompt="1"/>
          </p:nvPr>
        </p:nvSpPr>
        <p:spPr>
          <a:xfrm>
            <a:off x="1143000" y="5669280"/>
            <a:ext cx="12801600" cy="128016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9" name="Text Placeholder 8"/>
          <p:cNvSpPr>
            <a:spLocks noGrp="1"/>
          </p:cNvSpPr>
          <p:nvPr>
            <p:ph type="body" sz="quarter" idx="39" hasCustomPrompt="1"/>
          </p:nvPr>
        </p:nvSpPr>
        <p:spPr bwMode="ltGray">
          <a:xfrm>
            <a:off x="1143000" y="7114032"/>
            <a:ext cx="12801600" cy="2732574"/>
          </a:xfrm>
          <a:solidFill>
            <a:schemeClr val="tx2">
              <a:lumMod val="10000"/>
              <a:lumOff val="90000"/>
            </a:schemeClr>
          </a:solidFill>
        </p:spPr>
        <p:txBody>
          <a:bodyPr lIns="365760" rIns="365760" anchor="ctr">
            <a:noAutofit/>
          </a:bodyPr>
          <a:lstStyle>
            <a:lvl1pPr marL="0" indent="0">
              <a:spcBef>
                <a:spcPts val="1200"/>
              </a:spcBef>
              <a:buFont typeface="Arial" panose="020B0604020202020204" pitchFamily="34" charset="0"/>
              <a:buNone/>
              <a:defRPr sz="4400" baseline="0"/>
            </a:lvl1pPr>
            <a:lvl2pPr marL="571500" indent="-571500">
              <a:spcBef>
                <a:spcPts val="1200"/>
              </a:spcBef>
              <a:buFont typeface="Arial" panose="020B0604020202020204" pitchFamily="34" charset="0"/>
              <a:buChar char="•"/>
              <a:defRPr sz="4400"/>
            </a:lvl2pPr>
            <a:lvl3pPr marL="571500" indent="-571500">
              <a:spcBef>
                <a:spcPts val="1200"/>
              </a:spcBef>
              <a:buFont typeface="Arial" panose="020B0604020202020204" pitchFamily="34" charset="0"/>
              <a:buChar char="•"/>
              <a:defRPr sz="4400"/>
            </a:lvl3pPr>
            <a:lvl4pPr marL="0" indent="0">
              <a:spcBef>
                <a:spcPts val="1200"/>
              </a:spcBef>
              <a:buNone/>
              <a:defRPr sz="4400"/>
            </a:lvl4pPr>
            <a:lvl5pPr marL="0" indent="0">
              <a:spcBef>
                <a:spcPts val="1200"/>
              </a:spcBef>
              <a:buNone/>
              <a:defRPr sz="4400"/>
            </a:lvl5pPr>
            <a:lvl6pPr marL="0" indent="0">
              <a:spcBef>
                <a:spcPts val="1200"/>
              </a:spcBef>
              <a:buNone/>
              <a:defRPr sz="4400"/>
            </a:lvl6pPr>
            <a:lvl7pPr marL="0" indent="0">
              <a:spcBef>
                <a:spcPts val="1200"/>
              </a:spcBef>
              <a:buNone/>
              <a:defRPr sz="4400"/>
            </a:lvl7pPr>
            <a:lvl8pPr marL="0" indent="0">
              <a:spcBef>
                <a:spcPts val="1200"/>
              </a:spcBef>
              <a:buNone/>
              <a:defRPr sz="4400"/>
            </a:lvl8pPr>
            <a:lvl9pPr marL="0" indent="0">
              <a:spcBef>
                <a:spcPts val="1200"/>
              </a:spcBef>
              <a:buNone/>
              <a:defRPr sz="4400"/>
            </a:lvl9pPr>
          </a:lstStyle>
          <a:p>
            <a:pPr lvl="0"/>
            <a:r>
              <a:rPr lang="en-US" dirty="0"/>
              <a:t>Add your question or a statement of the problem here</a:t>
            </a:r>
          </a:p>
        </p:txBody>
      </p:sp>
      <p:sp>
        <p:nvSpPr>
          <p:cNvPr id="36" name="Text Placeholder 6"/>
          <p:cNvSpPr>
            <a:spLocks noGrp="1"/>
          </p:cNvSpPr>
          <p:nvPr>
            <p:ph type="body" sz="quarter" idx="37" hasCustomPrompt="1"/>
          </p:nvPr>
        </p:nvSpPr>
        <p:spPr>
          <a:xfrm>
            <a:off x="1143000" y="10497312"/>
            <a:ext cx="12801600" cy="128016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37" name="Content Placeholder 17"/>
          <p:cNvSpPr>
            <a:spLocks noGrp="1"/>
          </p:cNvSpPr>
          <p:nvPr>
            <p:ph sz="quarter" idx="38" hasCustomPrompt="1"/>
          </p:nvPr>
        </p:nvSpPr>
        <p:spPr>
          <a:xfrm>
            <a:off x="1143000" y="11868912"/>
            <a:ext cx="12801600" cy="2807506"/>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p:txBody>
      </p:sp>
      <p:sp>
        <p:nvSpPr>
          <p:cNvPr id="11" name="Text Placeholder 6"/>
          <p:cNvSpPr>
            <a:spLocks noGrp="1"/>
          </p:cNvSpPr>
          <p:nvPr>
            <p:ph type="body" sz="quarter" idx="17" hasCustomPrompt="1"/>
          </p:nvPr>
        </p:nvSpPr>
        <p:spPr>
          <a:xfrm>
            <a:off x="1143000" y="14950440"/>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0" name="Content Placeholder 17"/>
          <p:cNvSpPr>
            <a:spLocks noGrp="1"/>
          </p:cNvSpPr>
          <p:nvPr>
            <p:ph sz="quarter" idx="25" hasCustomPrompt="1"/>
          </p:nvPr>
        </p:nvSpPr>
        <p:spPr>
          <a:xfrm>
            <a:off x="1143000" y="16440912"/>
            <a:ext cx="12801600" cy="6027461"/>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3" name="Text Placeholder 6"/>
          <p:cNvSpPr>
            <a:spLocks noGrp="1"/>
          </p:cNvSpPr>
          <p:nvPr>
            <p:ph type="body" sz="quarter" idx="19" hasCustomPrompt="1"/>
          </p:nvPr>
        </p:nvSpPr>
        <p:spPr>
          <a:xfrm>
            <a:off x="1143000" y="22887432"/>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1" name="Content Placeholder 17"/>
          <p:cNvSpPr>
            <a:spLocks noGrp="1"/>
          </p:cNvSpPr>
          <p:nvPr>
            <p:ph sz="quarter" idx="26" hasCustomPrompt="1"/>
          </p:nvPr>
        </p:nvSpPr>
        <p:spPr>
          <a:xfrm>
            <a:off x="1143000" y="24332184"/>
            <a:ext cx="12801600" cy="7296912"/>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5" name="Text Placeholder 6"/>
          <p:cNvSpPr>
            <a:spLocks noGrp="1"/>
          </p:cNvSpPr>
          <p:nvPr>
            <p:ph type="body" sz="quarter" idx="21" hasCustomPrompt="1"/>
          </p:nvPr>
        </p:nvSpPr>
        <p:spPr>
          <a:xfrm>
            <a:off x="15544800" y="5669280"/>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2" name="Content Placeholder 17"/>
          <p:cNvSpPr>
            <a:spLocks noGrp="1"/>
          </p:cNvSpPr>
          <p:nvPr>
            <p:ph sz="quarter" idx="27" hasCustomPrompt="1"/>
          </p:nvPr>
        </p:nvSpPr>
        <p:spPr>
          <a:xfrm>
            <a:off x="15544800" y="7114032"/>
            <a:ext cx="12801600" cy="6795556"/>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38" name="Text Placeholder 6"/>
          <p:cNvSpPr>
            <a:spLocks noGrp="1"/>
          </p:cNvSpPr>
          <p:nvPr>
            <p:ph type="body" sz="quarter" idx="40" hasCustomPrompt="1"/>
          </p:nvPr>
        </p:nvSpPr>
        <p:spPr>
          <a:xfrm>
            <a:off x="15544800" y="14328648"/>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18" name="Content Placeholder 17"/>
          <p:cNvSpPr>
            <a:spLocks noGrp="1"/>
          </p:cNvSpPr>
          <p:nvPr>
            <p:ph sz="quarter" idx="23" hasCustomPrompt="1"/>
          </p:nvPr>
        </p:nvSpPr>
        <p:spPr>
          <a:xfrm>
            <a:off x="15544800" y="15773399"/>
            <a:ext cx="12801600" cy="6694973"/>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4" name="Text Placeholder 6"/>
          <p:cNvSpPr>
            <a:spLocks noGrp="1"/>
          </p:cNvSpPr>
          <p:nvPr>
            <p:ph type="body" sz="quarter" idx="29" hasCustomPrompt="1"/>
          </p:nvPr>
        </p:nvSpPr>
        <p:spPr>
          <a:xfrm>
            <a:off x="15544800" y="22887432"/>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5" name="Content Placeholder 17"/>
          <p:cNvSpPr>
            <a:spLocks noGrp="1"/>
          </p:cNvSpPr>
          <p:nvPr>
            <p:ph sz="quarter" idx="30" hasCustomPrompt="1"/>
          </p:nvPr>
        </p:nvSpPr>
        <p:spPr>
          <a:xfrm>
            <a:off x="15544800" y="24332184"/>
            <a:ext cx="12801600" cy="7296912"/>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6" name="Text Placeholder 6"/>
          <p:cNvSpPr>
            <a:spLocks noGrp="1"/>
          </p:cNvSpPr>
          <p:nvPr>
            <p:ph type="body" sz="quarter" idx="31" hasCustomPrompt="1"/>
          </p:nvPr>
        </p:nvSpPr>
        <p:spPr>
          <a:xfrm>
            <a:off x="29900880" y="5669280"/>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7" name="Content Placeholder 17"/>
          <p:cNvSpPr>
            <a:spLocks noGrp="1"/>
          </p:cNvSpPr>
          <p:nvPr>
            <p:ph sz="quarter" idx="32" hasCustomPrompt="1"/>
          </p:nvPr>
        </p:nvSpPr>
        <p:spPr>
          <a:xfrm>
            <a:off x="29900880" y="7114032"/>
            <a:ext cx="12801600" cy="7315200"/>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8" name="Content Placeholder 17"/>
          <p:cNvSpPr>
            <a:spLocks noGrp="1"/>
          </p:cNvSpPr>
          <p:nvPr>
            <p:ph sz="quarter" idx="33" hasCustomPrompt="1"/>
          </p:nvPr>
        </p:nvSpPr>
        <p:spPr>
          <a:xfrm>
            <a:off x="29900880" y="14914834"/>
            <a:ext cx="12801600" cy="4538610"/>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p:txBody>
      </p:sp>
      <p:sp>
        <p:nvSpPr>
          <p:cNvPr id="39" name="Text Placeholder 6"/>
          <p:cNvSpPr>
            <a:spLocks noGrp="1"/>
          </p:cNvSpPr>
          <p:nvPr>
            <p:ph type="body" sz="quarter" idx="41" hasCustomPrompt="1"/>
          </p:nvPr>
        </p:nvSpPr>
        <p:spPr>
          <a:xfrm>
            <a:off x="29900880" y="19767596"/>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40" name="Content Placeholder 17"/>
          <p:cNvSpPr>
            <a:spLocks noGrp="1"/>
          </p:cNvSpPr>
          <p:nvPr>
            <p:ph sz="quarter" idx="42" hasCustomPrompt="1"/>
          </p:nvPr>
        </p:nvSpPr>
        <p:spPr>
          <a:xfrm>
            <a:off x="29900880" y="21212348"/>
            <a:ext cx="12801600" cy="4344786"/>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p:txBody>
      </p:sp>
      <p:sp>
        <p:nvSpPr>
          <p:cNvPr id="29" name="Text Placeholder 6"/>
          <p:cNvSpPr>
            <a:spLocks noGrp="1"/>
          </p:cNvSpPr>
          <p:nvPr>
            <p:ph type="body" sz="quarter" idx="34" hasCustomPrompt="1"/>
          </p:nvPr>
        </p:nvSpPr>
        <p:spPr>
          <a:xfrm>
            <a:off x="29900880" y="25722072"/>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30" name="Content Placeholder 17"/>
          <p:cNvSpPr>
            <a:spLocks noGrp="1"/>
          </p:cNvSpPr>
          <p:nvPr>
            <p:ph sz="quarter" idx="35" hasCustomPrompt="1"/>
          </p:nvPr>
        </p:nvSpPr>
        <p:spPr>
          <a:xfrm>
            <a:off x="29900880" y="27166824"/>
            <a:ext cx="12801600" cy="4462272"/>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p:txBody>
      </p:sp>
      <p:sp>
        <p:nvSpPr>
          <p:cNvPr id="3" name="Date Placeholder 2"/>
          <p:cNvSpPr>
            <a:spLocks noGrp="1"/>
          </p:cNvSpPr>
          <p:nvPr>
            <p:ph type="dt" sz="half" idx="10"/>
          </p:nvPr>
        </p:nvSpPr>
        <p:spPr/>
        <p:txBody>
          <a:bodyPr/>
          <a:lstStyle/>
          <a:p>
            <a:fld id="{ECAA57DF-1C19-4726-AB84-014692BAD8F5}" type="datetimeFigureOut">
              <a:rPr lang="en-US" smtClean="0"/>
              <a:t>1/23/2023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B4C631-C489-4C11-812F-2172FBEAE82B}" type="slidenum">
              <a:rPr lang="en-US" smtClean="0"/>
              <a:t>‹#›</a:t>
            </a:fld>
            <a:endParaRPr lang="en-US"/>
          </a:p>
        </p:txBody>
      </p:sp>
      <p:sp>
        <p:nvSpPr>
          <p:cNvPr id="8" name="Picture Placeholder 7"/>
          <p:cNvSpPr>
            <a:spLocks noGrp="1"/>
          </p:cNvSpPr>
          <p:nvPr>
            <p:ph type="pic" sz="quarter" idx="43"/>
          </p:nvPr>
        </p:nvSpPr>
        <p:spPr>
          <a:xfrm>
            <a:off x="32270700" y="0"/>
            <a:ext cx="11620500" cy="3842445"/>
          </a:xfrm>
          <a:effectDag name="">
            <a:cont type="tree" name="">
              <a:effect ref="fillLine"/>
              <a:alphaMod>
                <a:cont name="">
                  <a:fill>
                    <a:gradFill>
                      <a:gsLst>
                        <a:gs pos="60000">
                          <a:srgbClr val="000000">
                            <a:alpha val="100000"/>
                          </a:srgbClr>
                        </a:gs>
                        <a:gs pos="97000">
                          <a:srgbClr val="000000">
                            <a:alpha val="0"/>
                          </a:srgbClr>
                        </a:gs>
                      </a:gsLst>
                      <a:lin ang="10800000"/>
                    </a:gradFill>
                  </a:fill>
                </a:cont>
              </a:alphaMod>
            </a:cont>
          </a:effectDag>
        </p:spPr>
        <p:txBody>
          <a:bodyPr lIns="91440" tIns="457200" rIns="91440"/>
          <a:lstStyle>
            <a:lvl1pPr marL="0" indent="0" algn="ctr">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45907722"/>
      </p:ext>
    </p:extLst>
  </p:cSld>
  <p:clrMapOvr>
    <a:masterClrMapping/>
  </p:clrMapOvr>
  <p:extLst>
    <p:ext uri="{DCECCB84-F9BA-43D5-87BE-67443E8EF086}">
      <p15:sldGuideLst xmlns:p15="http://schemas.microsoft.com/office/powerpoint/2012/main">
        <p15:guide id="1" pos="9168" userDrawn="1">
          <p15:clr>
            <a:srgbClr val="A4A3A4"/>
          </p15:clr>
        </p15:guide>
        <p15:guide id="2" pos="18480" userDrawn="1">
          <p15:clr>
            <a:srgbClr val="A4A3A4"/>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bwMode="ltGray">
          <a:xfrm>
            <a:off x="0" y="0"/>
            <a:ext cx="43891200" cy="5029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bwMode="auto">
          <a:xfrm>
            <a:off x="1158240" y="685860"/>
            <a:ext cx="30175200" cy="297174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158240" y="6019800"/>
            <a:ext cx="41589960" cy="236296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3000" y="32114698"/>
            <a:ext cx="9875520" cy="457200"/>
          </a:xfrm>
          <a:prstGeom prst="rect">
            <a:avLst/>
          </a:prstGeom>
        </p:spPr>
        <p:txBody>
          <a:bodyPr vert="horz" lIns="91440" tIns="45720" rIns="91440" bIns="45720" rtlCol="0" anchor="ctr"/>
          <a:lstStyle>
            <a:lvl1pPr algn="l">
              <a:defRPr sz="1600">
                <a:solidFill>
                  <a:schemeClr val="tx1">
                    <a:tint val="75000"/>
                  </a:schemeClr>
                </a:solidFill>
              </a:defRPr>
            </a:lvl1pPr>
          </a:lstStyle>
          <a:p>
            <a:fld id="{ECAA57DF-1C19-4726-AB84-014692BAD8F5}" type="datetimeFigureOut">
              <a:rPr lang="en-US" smtClean="0"/>
              <a:pPr/>
              <a:t>1/23/2023</a:t>
            </a:fld>
            <a:endParaRPr lang="en-US"/>
          </a:p>
        </p:txBody>
      </p:sp>
      <p:sp>
        <p:nvSpPr>
          <p:cNvPr id="5" name="Footer Placeholder 4"/>
          <p:cNvSpPr>
            <a:spLocks noGrp="1"/>
          </p:cNvSpPr>
          <p:nvPr>
            <p:ph type="ftr" sz="quarter" idx="3"/>
          </p:nvPr>
        </p:nvSpPr>
        <p:spPr>
          <a:xfrm>
            <a:off x="11018520" y="32114698"/>
            <a:ext cx="21854160" cy="457200"/>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2872680" y="32114698"/>
            <a:ext cx="9875520" cy="457200"/>
          </a:xfrm>
          <a:prstGeom prst="rect">
            <a:avLst/>
          </a:prstGeom>
        </p:spPr>
        <p:txBody>
          <a:bodyPr vert="horz" lIns="91440" tIns="45720" rIns="91440" bIns="45720" rtlCol="0" anchor="ctr"/>
          <a:lstStyle>
            <a:lvl1pPr algn="r">
              <a:defRPr sz="1600">
                <a:solidFill>
                  <a:schemeClr val="tx1">
                    <a:tint val="75000"/>
                  </a:schemeClr>
                </a:solidFill>
              </a:defRPr>
            </a:lvl1pPr>
          </a:lstStyle>
          <a:p>
            <a:fld id="{91B4C631-C489-4C11-812F-2172FBEAE82B}" type="slidenum">
              <a:rPr lang="en-US" smtClean="0"/>
              <a:pPr/>
              <a:t>‹#›</a:t>
            </a:fld>
            <a:endParaRPr lang="en-US"/>
          </a:p>
        </p:txBody>
      </p:sp>
      <p:sp>
        <p:nvSpPr>
          <p:cNvPr id="8" name="Rectangle 7"/>
          <p:cNvSpPr/>
          <p:nvPr userDrawn="1"/>
        </p:nvSpPr>
        <p:spPr bwMode="gray">
          <a:xfrm>
            <a:off x="0" y="3886200"/>
            <a:ext cx="43891200" cy="1143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userDrawn="1"/>
        </p:nvCxnSpPr>
        <p:spPr>
          <a:xfrm>
            <a:off x="0" y="3886200"/>
            <a:ext cx="43891200" cy="0"/>
          </a:xfrm>
          <a:prstGeom prst="line">
            <a:avLst/>
          </a:prstGeom>
          <a:ln w="114300">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8807471"/>
      </p:ext>
    </p:extLst>
  </p:cSld>
  <p:clrMap bg1="lt1" tx1="dk1" bg2="lt2" tx2="dk2" accent1="accent1" accent2="accent2" accent3="accent3" accent4="accent4" accent5="accent5" accent6="accent6" hlink="hlink" folHlink="folHlink"/>
  <p:sldLayoutIdLst>
    <p:sldLayoutId id="2147483672" r:id="rId1"/>
  </p:sldLayoutIdLst>
  <p:txStyles>
    <p:titleStyle>
      <a:lvl1pPr algn="l" defTabSz="4389120" rtl="0" eaLnBrk="1" latinLnBrk="0" hangingPunct="1">
        <a:lnSpc>
          <a:spcPct val="90000"/>
        </a:lnSpc>
        <a:spcBef>
          <a:spcPct val="0"/>
        </a:spcBef>
        <a:buNone/>
        <a:defRPr sz="11500" b="0" kern="1200">
          <a:solidFill>
            <a:schemeClr val="bg1"/>
          </a:solidFill>
          <a:latin typeface="+mj-lt"/>
          <a:ea typeface="+mj-ea"/>
          <a:cs typeface="+mj-cs"/>
        </a:defRPr>
      </a:lvl1pPr>
    </p:titleStyle>
    <p:body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368" userDrawn="1">
          <p15:clr>
            <a:srgbClr val="A4A3A4"/>
          </p15:clr>
        </p15:guide>
        <p15:guide id="2" pos="720" userDrawn="1">
          <p15:clr>
            <a:srgbClr val="A4A3A4"/>
          </p15:clr>
        </p15:guide>
        <p15:guide id="3" pos="26928" userDrawn="1">
          <p15:clr>
            <a:srgbClr val="A4A3A4"/>
          </p15:clr>
        </p15:guide>
        <p15:guide id="4" pos="13824" userDrawn="1">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A Hybrid Technique to Increase Throughput of the NASA’s Streaming Spectrum Sensor</a:t>
            </a:r>
          </a:p>
        </p:txBody>
      </p:sp>
      <p:sp>
        <p:nvSpPr>
          <p:cNvPr id="23" name="Text Placeholder 22"/>
          <p:cNvSpPr>
            <a:spLocks noGrp="1"/>
          </p:cNvSpPr>
          <p:nvPr>
            <p:ph type="body" sz="quarter" idx="36"/>
          </p:nvPr>
        </p:nvSpPr>
        <p:spPr/>
        <p:txBody>
          <a:bodyPr/>
          <a:lstStyle/>
          <a:p>
            <a:r>
              <a:rPr lang="en-US" dirty="0"/>
              <a:t>Dylan Gormley | NASA Glenn Research Center</a:t>
            </a:r>
          </a:p>
        </p:txBody>
      </p:sp>
      <p:sp>
        <p:nvSpPr>
          <p:cNvPr id="67" name="Text Placeholder 66"/>
          <p:cNvSpPr>
            <a:spLocks noGrp="1"/>
          </p:cNvSpPr>
          <p:nvPr>
            <p:ph type="body" sz="quarter" idx="13"/>
          </p:nvPr>
        </p:nvSpPr>
        <p:spPr/>
        <p:txBody>
          <a:bodyPr/>
          <a:lstStyle/>
          <a:p>
            <a:r>
              <a:rPr lang="en-US" dirty="0"/>
              <a:t>Abstract</a:t>
            </a:r>
          </a:p>
        </p:txBody>
      </p:sp>
      <p:sp>
        <p:nvSpPr>
          <p:cNvPr id="69" name="Text Placeholder 68"/>
          <p:cNvSpPr>
            <a:spLocks noGrp="1"/>
          </p:cNvSpPr>
          <p:nvPr>
            <p:ph type="body" sz="quarter" idx="39"/>
          </p:nvPr>
        </p:nvSpPr>
        <p:spPr>
          <a:xfrm>
            <a:off x="1143000" y="6888480"/>
            <a:ext cx="12801600" cy="4129278"/>
          </a:xfrm>
        </p:spPr>
        <p:txBody>
          <a:bodyPr/>
          <a:lstStyle/>
          <a:p>
            <a:pPr algn="just"/>
            <a:r>
              <a:rPr lang="en-US" sz="3200" dirty="0"/>
              <a:t>In previous work, there has been significant progress on edge device RF feature detection using a hardware algorithm known as the streaming spectrum sensor (</a:t>
            </a:r>
            <a:r>
              <a:rPr lang="en-US" sz="3200" dirty="0" err="1"/>
              <a:t>StSS</a:t>
            </a:r>
            <a:r>
              <a:rPr lang="en-US" sz="3200" dirty="0"/>
              <a:t>). Unlike other spectrum sensor implementations, the </a:t>
            </a:r>
            <a:r>
              <a:rPr lang="en-US" sz="3200" dirty="0" err="1"/>
              <a:t>StSS</a:t>
            </a:r>
            <a:r>
              <a:rPr lang="en-US" sz="3200" dirty="0"/>
              <a:t> can function on edge devices due to its low memory requirements. While the </a:t>
            </a:r>
            <a:r>
              <a:rPr lang="en-US" sz="3200" dirty="0" err="1"/>
              <a:t>StSS</a:t>
            </a:r>
            <a:r>
              <a:rPr lang="en-US" sz="3200" dirty="0"/>
              <a:t> accomplishes its objective of low memory detection, it sacrifices detection throughput. This work investigates a hybrid technique to balance memory and throughput.</a:t>
            </a:r>
          </a:p>
        </p:txBody>
      </p:sp>
      <p:sp>
        <p:nvSpPr>
          <p:cNvPr id="68" name="Text Placeholder 67"/>
          <p:cNvSpPr>
            <a:spLocks noGrp="1"/>
          </p:cNvSpPr>
          <p:nvPr>
            <p:ph type="body" sz="quarter" idx="37"/>
          </p:nvPr>
        </p:nvSpPr>
        <p:spPr>
          <a:xfrm>
            <a:off x="1188720" y="12063550"/>
            <a:ext cx="12801600" cy="1280160"/>
          </a:xfrm>
        </p:spPr>
        <p:txBody>
          <a:bodyPr/>
          <a:lstStyle/>
          <a:p>
            <a:r>
              <a:rPr lang="en-US" dirty="0"/>
              <a:t>Related Work</a:t>
            </a:r>
          </a:p>
        </p:txBody>
      </p:sp>
      <p:sp>
        <p:nvSpPr>
          <p:cNvPr id="11" name="Content Placeholder 10"/>
          <p:cNvSpPr>
            <a:spLocks noGrp="1"/>
          </p:cNvSpPr>
          <p:nvPr>
            <p:ph sz="quarter" idx="38"/>
          </p:nvPr>
        </p:nvSpPr>
        <p:spPr>
          <a:xfrm>
            <a:off x="1143000" y="13488162"/>
            <a:ext cx="12801600" cy="4897048"/>
          </a:xfrm>
        </p:spPr>
        <p:txBody>
          <a:bodyPr>
            <a:noAutofit/>
          </a:bodyPr>
          <a:lstStyle/>
          <a:p>
            <a:pPr marL="0" indent="0" algn="just">
              <a:buNone/>
            </a:pPr>
            <a:r>
              <a:rPr lang="en-US" dirty="0"/>
              <a:t>This is the fourth installment on a series of work related to edge device spectrum sensing.  Previous works were</a:t>
            </a:r>
          </a:p>
          <a:p>
            <a:pPr marL="514350" indent="-514350" algn="just">
              <a:buFont typeface="+mj-lt"/>
              <a:buAutoNum type="arabicPeriod"/>
            </a:pPr>
            <a:r>
              <a:rPr lang="en-US" dirty="0"/>
              <a:t>A Low-Memory Spectral-Correlation Analyzer for Digital QAM-SRRC Waveforms</a:t>
            </a:r>
          </a:p>
          <a:p>
            <a:pPr marL="514350" indent="-514350" algn="just">
              <a:buFont typeface="+mj-lt"/>
              <a:buAutoNum type="arabicPeriod"/>
            </a:pPr>
            <a:r>
              <a:rPr lang="en-US" dirty="0"/>
              <a:t>A Spectrum Sensor for CubeSat Radios</a:t>
            </a:r>
          </a:p>
          <a:p>
            <a:pPr marL="514350" indent="-514350" algn="just">
              <a:buFont typeface="+mj-lt"/>
              <a:buAutoNum type="arabicPeriod"/>
            </a:pPr>
            <a:r>
              <a:rPr lang="en-US" dirty="0"/>
              <a:t>Toward the Development of a Multi-Agent Cognitive Networking System for the Lunar Environment</a:t>
            </a:r>
          </a:p>
        </p:txBody>
      </p:sp>
      <p:sp>
        <p:nvSpPr>
          <p:cNvPr id="7" name="Text Placeholder 6"/>
          <p:cNvSpPr>
            <a:spLocks noGrp="1"/>
          </p:cNvSpPr>
          <p:nvPr>
            <p:ph type="body" sz="quarter" idx="17"/>
          </p:nvPr>
        </p:nvSpPr>
        <p:spPr>
          <a:xfrm>
            <a:off x="1143000" y="18488240"/>
            <a:ext cx="12801600" cy="1219200"/>
          </a:xfrm>
        </p:spPr>
        <p:txBody>
          <a:bodyPr/>
          <a:lstStyle/>
          <a:p>
            <a:r>
              <a:rPr lang="en-US" dirty="0"/>
              <a:t>Streaming Spectrum Sensor Review</a:t>
            </a:r>
          </a:p>
        </p:txBody>
      </p:sp>
      <p:sp>
        <p:nvSpPr>
          <p:cNvPr id="12" name="Content Placeholder 11"/>
          <p:cNvSpPr>
            <a:spLocks noGrp="1"/>
          </p:cNvSpPr>
          <p:nvPr>
            <p:ph sz="quarter" idx="25"/>
          </p:nvPr>
        </p:nvSpPr>
        <p:spPr>
          <a:xfrm>
            <a:off x="1143000" y="19629120"/>
            <a:ext cx="12801600" cy="11999976"/>
          </a:xfrm>
        </p:spPr>
        <p:txBody>
          <a:bodyPr>
            <a:noAutofit/>
          </a:bodyPr>
          <a:lstStyle/>
          <a:p>
            <a:pPr marL="0" indent="0" algn="just">
              <a:buNone/>
            </a:pPr>
            <a:r>
              <a:rPr lang="en-US" dirty="0"/>
              <a:t>A device that can detect radio frequency (RF) spectrum features, whatever the method, is known as a spectrum sensor. The use of this knowledge to improve radio performance is known as cognitive radio (CR). One common technique of RF feature detection is using what is known as spectral correlation analyzers (SCA). SCAs estimate a given channel’s spectral correlation function (SCF), also called cyclic spectral density (CSD). Various implementations are available in the literature, such as the SSCA and FAM, each with strengths and weaknesses.</a:t>
            </a:r>
          </a:p>
          <a:p>
            <a:pPr marL="0" indent="0" algn="just">
              <a:buNone/>
            </a:pPr>
            <a:r>
              <a:rPr lang="en-US" dirty="0"/>
              <a:t>This paper focuses on one implementation method, the streaming spectral correlation analyzer (</a:t>
            </a:r>
            <a:r>
              <a:rPr lang="en-US" dirty="0" err="1"/>
              <a:t>StSCA</a:t>
            </a:r>
            <a:r>
              <a:rPr lang="en-US" dirty="0"/>
              <a:t>). This method functions on severely resource-constrained platforms, known as edge devices, by estimating the SCF with a focus on memory efficiency. The results of the </a:t>
            </a:r>
            <a:r>
              <a:rPr lang="en-US" dirty="0" err="1"/>
              <a:t>StSCA</a:t>
            </a:r>
            <a:r>
              <a:rPr lang="en-US" dirty="0"/>
              <a:t> are part of the streaming spectrum sensor (</a:t>
            </a:r>
            <a:r>
              <a:rPr lang="en-US" dirty="0" err="1"/>
              <a:t>StSS</a:t>
            </a:r>
            <a:r>
              <a:rPr lang="en-US" dirty="0"/>
              <a:t>). The </a:t>
            </a:r>
            <a:r>
              <a:rPr lang="en-US" dirty="0" err="1"/>
              <a:t>StSS</a:t>
            </a:r>
            <a:r>
              <a:rPr lang="en-US" dirty="0"/>
              <a:t> uses peak detection and a threshold on the SCF generated by the </a:t>
            </a:r>
            <a:r>
              <a:rPr lang="en-US" dirty="0" err="1"/>
              <a:t>StSCA</a:t>
            </a:r>
            <a:r>
              <a:rPr lang="en-US" dirty="0"/>
              <a:t> to detect the symbol rate and center frequency offset of active users in a channel.</a:t>
            </a:r>
          </a:p>
          <a:p>
            <a:pPr marL="0" indent="0" algn="just">
              <a:buNone/>
            </a:pPr>
            <a:r>
              <a:rPr lang="en-US" dirty="0"/>
              <a:t>This paper discusses design improvements to the </a:t>
            </a:r>
            <a:r>
              <a:rPr lang="en-US" dirty="0" err="1"/>
              <a:t>StSS</a:t>
            </a:r>
            <a:r>
              <a:rPr lang="en-US" dirty="0"/>
              <a:t>. It is primarily concerned with adding a preprocessor component to increase throughput at a minimal memory cost. Also covered in this paper are minor design updates that increase performance, reliability, and resource consumption. Resource utilization is provided for a sample device.</a:t>
            </a:r>
          </a:p>
        </p:txBody>
      </p:sp>
      <p:sp>
        <p:nvSpPr>
          <p:cNvPr id="9" name="Text Placeholder 8"/>
          <p:cNvSpPr>
            <a:spLocks noGrp="1"/>
          </p:cNvSpPr>
          <p:nvPr>
            <p:ph type="body" sz="quarter" idx="21"/>
          </p:nvPr>
        </p:nvSpPr>
        <p:spPr>
          <a:xfrm>
            <a:off x="14325600" y="5669280"/>
            <a:ext cx="15179040" cy="1219200"/>
          </a:xfrm>
        </p:spPr>
        <p:txBody>
          <a:bodyPr/>
          <a:lstStyle/>
          <a:p>
            <a:r>
              <a:rPr lang="en-US" dirty="0"/>
              <a:t>Top-Level Component</a:t>
            </a:r>
          </a:p>
        </p:txBody>
      </p:sp>
      <p:sp>
        <p:nvSpPr>
          <p:cNvPr id="70" name="Text Placeholder 69"/>
          <p:cNvSpPr>
            <a:spLocks noGrp="1"/>
          </p:cNvSpPr>
          <p:nvPr>
            <p:ph type="body" sz="quarter" idx="40"/>
          </p:nvPr>
        </p:nvSpPr>
        <p:spPr>
          <a:xfrm>
            <a:off x="14249555" y="15184778"/>
            <a:ext cx="15164116" cy="1219200"/>
          </a:xfrm>
        </p:spPr>
        <p:txBody>
          <a:bodyPr/>
          <a:lstStyle/>
          <a:p>
            <a:r>
              <a:rPr lang="en-US" dirty="0"/>
              <a:t>Preprocessor</a:t>
            </a:r>
          </a:p>
        </p:txBody>
      </p:sp>
      <p:sp>
        <p:nvSpPr>
          <p:cNvPr id="16" name="Text Placeholder 15"/>
          <p:cNvSpPr>
            <a:spLocks noGrp="1"/>
          </p:cNvSpPr>
          <p:nvPr>
            <p:ph type="body" sz="quarter" idx="29"/>
          </p:nvPr>
        </p:nvSpPr>
        <p:spPr>
          <a:xfrm>
            <a:off x="14302738" y="21953089"/>
            <a:ext cx="15118396" cy="1219200"/>
          </a:xfrm>
        </p:spPr>
        <p:txBody>
          <a:bodyPr/>
          <a:lstStyle/>
          <a:p>
            <a:r>
              <a:rPr lang="en-US" dirty="0"/>
              <a:t>Feature Detection</a:t>
            </a:r>
          </a:p>
        </p:txBody>
      </p:sp>
      <p:sp>
        <p:nvSpPr>
          <p:cNvPr id="18" name="Text Placeholder 17"/>
          <p:cNvSpPr>
            <a:spLocks noGrp="1"/>
          </p:cNvSpPr>
          <p:nvPr>
            <p:ph type="body" sz="quarter" idx="31"/>
          </p:nvPr>
        </p:nvSpPr>
        <p:spPr/>
        <p:txBody>
          <a:bodyPr/>
          <a:lstStyle/>
          <a:p>
            <a:r>
              <a:rPr lang="en-US"/>
              <a:t>Results</a:t>
            </a:r>
            <a:endParaRPr lang="en-US" dirty="0"/>
          </a:p>
        </p:txBody>
      </p:sp>
      <p:sp>
        <p:nvSpPr>
          <p:cNvPr id="71" name="Text Placeholder 70"/>
          <p:cNvSpPr>
            <a:spLocks noGrp="1"/>
          </p:cNvSpPr>
          <p:nvPr>
            <p:ph type="body" sz="quarter" idx="41"/>
          </p:nvPr>
        </p:nvSpPr>
        <p:spPr>
          <a:xfrm>
            <a:off x="29900880" y="25019508"/>
            <a:ext cx="12801600" cy="1219200"/>
          </a:xfrm>
        </p:spPr>
        <p:txBody>
          <a:bodyPr/>
          <a:lstStyle/>
          <a:p>
            <a:r>
              <a:rPr lang="en-US" dirty="0"/>
              <a:t>Conclusion</a:t>
            </a:r>
          </a:p>
        </p:txBody>
      </p:sp>
      <p:sp>
        <p:nvSpPr>
          <p:cNvPr id="15" name="Content Placeholder 14"/>
          <p:cNvSpPr>
            <a:spLocks noGrp="1"/>
          </p:cNvSpPr>
          <p:nvPr>
            <p:ph sz="quarter" idx="42"/>
          </p:nvPr>
        </p:nvSpPr>
        <p:spPr>
          <a:xfrm>
            <a:off x="29900880" y="26238708"/>
            <a:ext cx="12801600" cy="5094732"/>
          </a:xfrm>
        </p:spPr>
        <p:txBody>
          <a:bodyPr/>
          <a:lstStyle/>
          <a:p>
            <a:pPr marL="0" indent="0" algn="just">
              <a:buNone/>
            </a:pPr>
            <a:r>
              <a:rPr lang="en-US" dirty="0"/>
              <a:t>The original </a:t>
            </a:r>
            <a:r>
              <a:rPr lang="en-US" dirty="0" err="1"/>
              <a:t>StSS</a:t>
            </a:r>
            <a:r>
              <a:rPr lang="en-US" dirty="0"/>
              <a:t> design focused on a minimal memory SCA design in order to fit RF Feature Detection onto edge devices, such as </a:t>
            </a:r>
            <a:r>
              <a:rPr lang="en-US" dirty="0" err="1"/>
              <a:t>cubesats</a:t>
            </a:r>
            <a:r>
              <a:rPr lang="en-US" dirty="0"/>
              <a:t>.  In this work, we find that we can drastically increase the throughput of the </a:t>
            </a:r>
            <a:r>
              <a:rPr lang="en-US" dirty="0" err="1"/>
              <a:t>StSS</a:t>
            </a:r>
            <a:r>
              <a:rPr lang="en-US" dirty="0"/>
              <a:t> by adding a single FFT to the frontend of the design.</a:t>
            </a:r>
          </a:p>
        </p:txBody>
      </p:sp>
      <p:pic>
        <p:nvPicPr>
          <p:cNvPr id="14" name="Picture Placeholder 13" descr="Icon&#10;&#10;Description automatically generated">
            <a:extLst>
              <a:ext uri="{FF2B5EF4-FFF2-40B4-BE49-F238E27FC236}">
                <a16:creationId xmlns:a16="http://schemas.microsoft.com/office/drawing/2014/main" id="{C61D627F-154B-4971-BD61-F21FA99F5A8C}"/>
              </a:ext>
            </a:extLst>
          </p:cNvPr>
          <p:cNvPicPr>
            <a:picLocks noGrp="1" noChangeAspect="1"/>
          </p:cNvPicPr>
          <p:nvPr>
            <p:ph type="pic" sz="quarter" idx="43"/>
          </p:nvPr>
        </p:nvPicPr>
        <p:blipFill>
          <a:blip r:embed="rId3" cstate="print">
            <a:extLst>
              <a:ext uri="{28A0092B-C50C-407E-A947-70E740481C1C}">
                <a14:useLocalDpi xmlns:a14="http://schemas.microsoft.com/office/drawing/2010/main" val="0"/>
              </a:ext>
            </a:extLst>
          </a:blip>
          <a:srcRect t="16940" b="16940"/>
          <a:stretch>
            <a:fillRect/>
          </a:stretch>
        </p:blipFill>
        <p:spPr/>
      </p:pic>
      <p:pic>
        <p:nvPicPr>
          <p:cNvPr id="24" name="Picture 23" descr="Diagram, schematic&#10;&#10;Description automatically generated">
            <a:extLst>
              <a:ext uri="{FF2B5EF4-FFF2-40B4-BE49-F238E27FC236}">
                <a16:creationId xmlns:a16="http://schemas.microsoft.com/office/drawing/2014/main" id="{0D1ACF6C-D7FA-43F1-906C-E55D753C12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56080" y="6884849"/>
            <a:ext cx="15179040" cy="5178701"/>
          </a:xfrm>
          <a:prstGeom prst="rect">
            <a:avLst/>
          </a:prstGeom>
        </p:spPr>
      </p:pic>
      <p:pic>
        <p:nvPicPr>
          <p:cNvPr id="41" name="Picture 40" descr="Graphical user interface, diagram&#10;&#10;Description automatically generated">
            <a:extLst>
              <a:ext uri="{FF2B5EF4-FFF2-40B4-BE49-F238E27FC236}">
                <a16:creationId xmlns:a16="http://schemas.microsoft.com/office/drawing/2014/main" id="{BC1D95D1-30B0-490C-BEBE-3DD385043B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431963" y="23360592"/>
            <a:ext cx="15118395" cy="5785104"/>
          </a:xfrm>
          <a:prstGeom prst="rect">
            <a:avLst/>
          </a:prstGeom>
        </p:spPr>
      </p:pic>
      <p:sp>
        <p:nvSpPr>
          <p:cNvPr id="60" name="Content Placeholder 14">
            <a:extLst>
              <a:ext uri="{FF2B5EF4-FFF2-40B4-BE49-F238E27FC236}">
                <a16:creationId xmlns:a16="http://schemas.microsoft.com/office/drawing/2014/main" id="{B1FABE98-F2CE-4B8C-A21E-5565A3630FC0}"/>
              </a:ext>
            </a:extLst>
          </p:cNvPr>
          <p:cNvSpPr txBox="1">
            <a:spLocks/>
          </p:cNvSpPr>
          <p:nvPr/>
        </p:nvSpPr>
        <p:spPr>
          <a:xfrm>
            <a:off x="14249555" y="12050598"/>
            <a:ext cx="15012030" cy="2050709"/>
          </a:xfrm>
          <a:prstGeom prst="rect">
            <a:avLst/>
          </a:prstGeom>
        </p:spPr>
        <p:txBody>
          <a:bodyPr vert="horz" lIns="91440" tIns="182880" rIns="91440" bIns="45720" rtlCol="0">
            <a:normAutofit lnSpcReduction="10000"/>
          </a:bodyPr>
          <a:lst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32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9pPr>
          </a:lstStyle>
          <a:p>
            <a:pPr marL="0" indent="0" algn="just">
              <a:buNone/>
            </a:pPr>
            <a:r>
              <a:rPr lang="en-US" dirty="0"/>
              <a:t>The top-level component interfaces with a dynamic spectrum manager (DSM), which controls the </a:t>
            </a:r>
            <a:r>
              <a:rPr lang="en-US" dirty="0" err="1"/>
              <a:t>StSS</a:t>
            </a:r>
            <a:r>
              <a:rPr lang="en-US" dirty="0"/>
              <a:t> and retrieves results.  The key update in this paper is the addition of the symbol rate preprocessor (SRP), which adds a single FFT in order to dramatically increase performance of the system. </a:t>
            </a:r>
          </a:p>
        </p:txBody>
      </p:sp>
      <p:sp>
        <p:nvSpPr>
          <p:cNvPr id="61" name="Content Placeholder 14">
            <a:extLst>
              <a:ext uri="{FF2B5EF4-FFF2-40B4-BE49-F238E27FC236}">
                <a16:creationId xmlns:a16="http://schemas.microsoft.com/office/drawing/2014/main" id="{867F16B3-EE97-42B8-A05B-84ECC5B00B05}"/>
              </a:ext>
            </a:extLst>
          </p:cNvPr>
          <p:cNvSpPr txBox="1">
            <a:spLocks/>
          </p:cNvSpPr>
          <p:nvPr/>
        </p:nvSpPr>
        <p:spPr>
          <a:xfrm>
            <a:off x="14325598" y="18385210"/>
            <a:ext cx="15012030" cy="4877847"/>
          </a:xfrm>
          <a:prstGeom prst="rect">
            <a:avLst/>
          </a:prstGeom>
        </p:spPr>
        <p:txBody>
          <a:bodyPr vert="horz" lIns="91440" tIns="182880" rIns="91440" bIns="45720" rtlCol="0">
            <a:normAutofit/>
          </a:bodyPr>
          <a:lst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32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9pPr>
          </a:lstStyle>
          <a:p>
            <a:pPr marL="0" indent="0">
              <a:buNone/>
            </a:pPr>
            <a:endParaRPr lang="en-US" dirty="0"/>
          </a:p>
        </p:txBody>
      </p:sp>
      <p:pic>
        <p:nvPicPr>
          <p:cNvPr id="55" name="Picture 54" descr="Application&#10;&#10;Description automatically generated with low confidence">
            <a:extLst>
              <a:ext uri="{FF2B5EF4-FFF2-40B4-BE49-F238E27FC236}">
                <a16:creationId xmlns:a16="http://schemas.microsoft.com/office/drawing/2014/main" id="{876C4F1E-B46B-49E3-8F78-CB870F5AB27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325600" y="16611153"/>
            <a:ext cx="15179040" cy="2642292"/>
          </a:xfrm>
          <a:prstGeom prst="rect">
            <a:avLst/>
          </a:prstGeom>
        </p:spPr>
      </p:pic>
      <p:sp>
        <p:nvSpPr>
          <p:cNvPr id="73" name="TextBox 72">
            <a:extLst>
              <a:ext uri="{FF2B5EF4-FFF2-40B4-BE49-F238E27FC236}">
                <a16:creationId xmlns:a16="http://schemas.microsoft.com/office/drawing/2014/main" id="{6084670E-EA99-45A5-A05F-5E2B9C96CBD0}"/>
              </a:ext>
            </a:extLst>
          </p:cNvPr>
          <p:cNvSpPr txBox="1"/>
          <p:nvPr/>
        </p:nvSpPr>
        <p:spPr>
          <a:xfrm>
            <a:off x="14340682" y="19526377"/>
            <a:ext cx="15164116" cy="1077218"/>
          </a:xfrm>
          <a:prstGeom prst="rect">
            <a:avLst/>
          </a:prstGeom>
          <a:noFill/>
        </p:spPr>
        <p:txBody>
          <a:bodyPr wrap="square">
            <a:spAutoFit/>
          </a:bodyPr>
          <a:lstStyle/>
          <a:p>
            <a:pPr algn="just"/>
            <a:r>
              <a:rPr lang="en-US" sz="3200" dirty="0"/>
              <a:t>Unlike the original symbol rate estimator, which processes a single-term DFT instances serially, the SRP processes all terms using a N-point FFT.</a:t>
            </a:r>
          </a:p>
        </p:txBody>
      </p:sp>
      <p:sp>
        <p:nvSpPr>
          <p:cNvPr id="74" name="TextBox 73">
            <a:extLst>
              <a:ext uri="{FF2B5EF4-FFF2-40B4-BE49-F238E27FC236}">
                <a16:creationId xmlns:a16="http://schemas.microsoft.com/office/drawing/2014/main" id="{D26C0EE0-CD7F-456C-BC0B-F7B28189D9B8}"/>
              </a:ext>
            </a:extLst>
          </p:cNvPr>
          <p:cNvSpPr txBox="1"/>
          <p:nvPr/>
        </p:nvSpPr>
        <p:spPr>
          <a:xfrm>
            <a:off x="14386242" y="29333999"/>
            <a:ext cx="15164116" cy="1569660"/>
          </a:xfrm>
          <a:prstGeom prst="rect">
            <a:avLst/>
          </a:prstGeom>
          <a:noFill/>
        </p:spPr>
        <p:txBody>
          <a:bodyPr wrap="square">
            <a:spAutoFit/>
          </a:bodyPr>
          <a:lstStyle/>
          <a:p>
            <a:pPr algn="just"/>
            <a:r>
              <a:rPr lang="en-US" sz="3200" dirty="0"/>
              <a:t>Instead of the </a:t>
            </a:r>
            <a:r>
              <a:rPr lang="en-US" sz="3200" dirty="0" err="1"/>
              <a:t>StSCA</a:t>
            </a:r>
            <a:r>
              <a:rPr lang="en-US" sz="3200" dirty="0"/>
              <a:t> attempting to detect every possible symbol rate, the preprocessor generates candidates, dramatically increasing feature detection throughput.</a:t>
            </a:r>
          </a:p>
        </p:txBody>
      </p:sp>
      <p:pic>
        <p:nvPicPr>
          <p:cNvPr id="58" name="Picture 57" descr="Chart, scatter chart&#10;&#10;Description automatically generated">
            <a:extLst>
              <a:ext uri="{FF2B5EF4-FFF2-40B4-BE49-F238E27FC236}">
                <a16:creationId xmlns:a16="http://schemas.microsoft.com/office/drawing/2014/main" id="{C74E6A37-C337-4960-9D8C-3C33987223D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900880" y="12317828"/>
            <a:ext cx="12801600" cy="9597541"/>
          </a:xfrm>
          <a:prstGeom prst="rect">
            <a:avLst/>
          </a:prstGeom>
        </p:spPr>
      </p:pic>
      <p:pic>
        <p:nvPicPr>
          <p:cNvPr id="75" name="Picture 74">
            <a:extLst>
              <a:ext uri="{FF2B5EF4-FFF2-40B4-BE49-F238E27FC236}">
                <a16:creationId xmlns:a16="http://schemas.microsoft.com/office/drawing/2014/main" id="{9C255071-1F0D-4D1A-B24F-836FCCD90429}"/>
              </a:ext>
            </a:extLst>
          </p:cNvPr>
          <p:cNvPicPr>
            <a:picLocks noChangeAspect="1"/>
          </p:cNvPicPr>
          <p:nvPr/>
        </p:nvPicPr>
        <p:blipFill rotWithShape="1">
          <a:blip r:embed="rId8"/>
          <a:srcRect t="22621"/>
          <a:stretch/>
        </p:blipFill>
        <p:spPr>
          <a:xfrm>
            <a:off x="29946600" y="7172751"/>
            <a:ext cx="12446584" cy="5178701"/>
          </a:xfrm>
          <a:prstGeom prst="rect">
            <a:avLst/>
          </a:prstGeom>
        </p:spPr>
      </p:pic>
      <p:sp>
        <p:nvSpPr>
          <p:cNvPr id="77" name="Content Placeholder 14">
            <a:extLst>
              <a:ext uri="{FF2B5EF4-FFF2-40B4-BE49-F238E27FC236}">
                <a16:creationId xmlns:a16="http://schemas.microsoft.com/office/drawing/2014/main" id="{F36ED95C-654A-4386-9509-ED02B8870280}"/>
              </a:ext>
            </a:extLst>
          </p:cNvPr>
          <p:cNvSpPr txBox="1">
            <a:spLocks/>
          </p:cNvSpPr>
          <p:nvPr/>
        </p:nvSpPr>
        <p:spPr>
          <a:xfrm>
            <a:off x="29900880" y="21915369"/>
            <a:ext cx="12801600" cy="4877847"/>
          </a:xfrm>
          <a:prstGeom prst="rect">
            <a:avLst/>
          </a:prstGeom>
        </p:spPr>
        <p:txBody>
          <a:bodyPr vert="horz" lIns="91440" tIns="182880" rIns="91440" bIns="45720" rtlCol="0">
            <a:normAutofit/>
          </a:bodyPr>
          <a:lst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32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9pPr>
          </a:lstStyle>
          <a:p>
            <a:pPr marL="0" indent="0" algn="just">
              <a:buNone/>
            </a:pPr>
            <a:r>
              <a:rPr lang="en-US" dirty="0"/>
              <a:t>For a nominal use case we find that this approach maintains favorable detection and classification results, all while keeping the resource utilization under 20%.  This is ideal, as edge devices will also need resources available for baseband processing, at a minimum.</a:t>
            </a:r>
          </a:p>
        </p:txBody>
      </p:sp>
    </p:spTree>
    <p:extLst>
      <p:ext uri="{BB962C8B-B14F-4D97-AF65-F5344CB8AC3E}">
        <p14:creationId xmlns:p14="http://schemas.microsoft.com/office/powerpoint/2010/main" val="931198942"/>
      </p:ext>
    </p:extLst>
  </p:cSld>
  <p:clrMapOvr>
    <a:masterClrMapping/>
  </p:clrMapOvr>
</p:sld>
</file>

<file path=ppt/theme/theme1.xml><?xml version="1.0" encoding="utf-8"?>
<a:theme xmlns:a="http://schemas.openxmlformats.org/drawingml/2006/main" name="Science Poster">
  <a:themeElements>
    <a:clrScheme name="Science Poster">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tlCol="0" anchor="ctr"/>
      <a:lstStyle>
        <a:defPPr algn="ctr">
          <a:defRPr sz="6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6000" dirty="0" err="1" smtClean="0"/>
        </a:defPPr>
      </a:lstStyle>
    </a:txDef>
  </a:objectDefaults>
  <a:extraClrSchemeLst/>
  <a:extLst>
    <a:ext uri="{05A4C25C-085E-4340-85A3-A5531E510DB2}">
      <thm15:themeFamily xmlns:thm15="http://schemas.microsoft.com/office/thememl/2012/main" name="Presentation2" id="{A3AC1795-03CA-4218-8E9C-394F2C72EB71}" vid="{9E91E023-53D0-48CE-AFD1-CE3DA49243D0}"/>
    </a:ext>
  </a:extLst>
</a:theme>
</file>

<file path=ppt/theme/theme2.xml><?xml version="1.0" encoding="utf-8"?>
<a:theme xmlns:a="http://schemas.openxmlformats.org/drawingml/2006/main" name="Office Theme">
  <a:themeElements>
    <a:clrScheme name="Science Poster">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cience Poster">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78</TotalTime>
  <Words>676</Words>
  <Application>Microsoft Office PowerPoint</Application>
  <PresentationFormat>Custom</PresentationFormat>
  <Paragraphs>25</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Science Poster</vt:lpstr>
      <vt:lpstr>A Hybrid Technique to Increase Throughput of the NASA’s Streaming Spectrum Sensor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 Project Title</dc:title>
  <dc:creator/>
  <cp:lastModifiedBy>Dylan Gormley</cp:lastModifiedBy>
  <cp:revision>4</cp:revision>
  <dcterms:created xsi:type="dcterms:W3CDTF">2013-01-20T21:20:28Z</dcterms:created>
  <dcterms:modified xsi:type="dcterms:W3CDTF">2023-01-23T21:25:15Z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0x0101007C1D5F340F01F94FA2FD29A5E6DC872E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